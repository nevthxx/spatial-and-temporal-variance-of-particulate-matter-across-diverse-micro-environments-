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0"/>
            <a:ext cx="164592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457200"/>
            <a:ext cx="164592" cy="164592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822960"/>
            <a:ext cx="109728" cy="109728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365760"/>
            <a:ext cx="128016" cy="128016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91440" cy="91440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097280"/>
            <a:ext cx="146304" cy="146304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286000"/>
            <a:ext cx="109728" cy="109728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926080"/>
            <a:ext cx="128016" cy="128016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743200"/>
            <a:ext cx="91440" cy="91440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749040"/>
            <a:ext cx="164592" cy="164592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4114800"/>
            <a:ext cx="109728" cy="109728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572000"/>
            <a:ext cx="91440" cy="91440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3474720"/>
            <a:ext cx="128016" cy="128016"/>
          </a:xfrm>
          <a:prstGeom prst="ellipse">
            <a:avLst/>
          </a:prstGeom>
          <a:solidFill>
            <a:srgbClr val="0EA5E9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5029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PH3039 — Data Acquisition Laboratory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96012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and Temporal Variance of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Particulate Matter Across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Micro-Environments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291840" y="2971800"/>
            <a:ext cx="13716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31546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Density Distribution: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Environmental Study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3977640"/>
            <a:ext cx="1600200" cy="777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4023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91840" y="4370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3977640"/>
            <a:ext cx="1600200" cy="777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40" y="4023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20640" y="4370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3977640"/>
            <a:ext cx="1600200" cy="777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9440" y="4023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86+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49440" y="4370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" y="4389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45720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4124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Indoor Air Quality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spend the majority of their time indoors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Airborne PM (particulate matter) can significantly affect respiratory function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exposure leads to long-term pulmonary issues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and human activity heavily influence dust distribution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8412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&amp; Methodology Overview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1444752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444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1691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GP2Y1010AU0F optical dust sensor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221992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2221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2468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light scattering — voltage output ∝ dust concentration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999232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3246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for data acquisition at 1-second intervals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776472"/>
            <a:ext cx="731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3776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4023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sites across indoor, outdoor &amp; semi-outdoor environments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51760" cy="59436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795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86968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" y="1591056"/>
            <a:ext cx="146304" cy="146304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53619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smoke source (burning matchstick) in sealed jar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" y="2286000"/>
            <a:ext cx="146304" cy="146304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2231136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voltage recorded as smoke accumulated &amp; dissipated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" y="2980944"/>
            <a:ext cx="146304" cy="146304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" y="292608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curve established: voltage → dust density (mg/m³)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" y="3675888"/>
            <a:ext cx="146304" cy="146304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3621024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Zero-dust baseline (VOC) confirmed at ~0.63 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265176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777240"/>
            <a:ext cx="26517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795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67328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4992" y="159105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02736" y="153619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locations at University of Colombo measured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64992" y="228600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602736" y="2231136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ADC sampled at 1-second intervals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298094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602736" y="292608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ρ = k × (V − VOC) applied to each reading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64992" y="367588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602736" y="3621024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Indoor, outdoor, and semi-outdoor environments covered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777240"/>
            <a:ext cx="265176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777240"/>
            <a:ext cx="2651760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6190488" y="795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647688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45352" y="1591056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6483096" y="153619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 (kernel size = 5) applied to raw ADC values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45352" y="2286000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6483096" y="2231136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transient noise while preserving real events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45352" y="2980944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6483096" y="292608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data plotted as dust density vs. time per location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45352" y="3675888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6483096" y="3621024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performed on representative dataset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Function:  ρ (mg/m³) = k × (V − VOC)   where  k = dust sensitivity,  V = measured voltage,  VOC = zero-dust baseline voltage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LOCATIONS — University of Colombo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51760" cy="5029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95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" y="1481328"/>
            <a:ext cx="109728" cy="25603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4173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Lab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" y="1984248"/>
            <a:ext cx="109728" cy="25603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92024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Circuit Lab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" y="2487168"/>
            <a:ext cx="109728" cy="25603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242316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Lab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" y="2990088"/>
            <a:ext cx="109728" cy="25603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92608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Lab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" y="3493008"/>
            <a:ext cx="109728" cy="25603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42900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Lab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2377440" cy="530352"/>
          </a:xfrm>
          <a:prstGeom prst="rect">
            <a:avLst/>
          </a:prstGeom>
          <a:solidFill>
            <a:srgbClr val="2563A8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2452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PM in afternoons due to activity &amp; stagnant air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777240"/>
            <a:ext cx="265176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777240"/>
            <a:ext cx="265176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795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64992" y="1481328"/>
            <a:ext cx="109728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3584448" y="14173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Ground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64992" y="1984248"/>
            <a:ext cx="109728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3584448" y="192024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Banyan Tree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64992" y="2487168"/>
            <a:ext cx="109728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3584448" y="242316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Chemistry Benches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37560" y="4206240"/>
            <a:ext cx="2377440" cy="530352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422452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PM in mornings; thermal convection clears air by afternoon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777240"/>
            <a:ext cx="265176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77724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795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SEMI-OUTDOOR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45352" y="1481328"/>
            <a:ext cx="1097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464808" y="14173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Lobby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45352" y="1984248"/>
            <a:ext cx="1097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464808" y="192024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ILC Building Ground Floor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45352" y="2487168"/>
            <a:ext cx="10972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464808" y="242316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Building Ground Floor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17920" y="4206240"/>
            <a:ext cx="2377440" cy="530352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4224528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variable; dominated by cross-ventilation &amp; airflow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 &amp; LINEARITY VALIDATION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39496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Decay During Matchstick Smoke Calibration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466344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0759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4663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6771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5800" y="2377440"/>
            <a:ext cx="4663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2783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5800" y="3337560"/>
            <a:ext cx="4663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187952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4663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1548079"/>
            <a:ext cx="224028" cy="2749601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" y="1661465"/>
            <a:ext cx="224028" cy="2636215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2144" y="1831543"/>
            <a:ext cx="224028" cy="2466137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85316" y="2029968"/>
            <a:ext cx="224028" cy="2267712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18488" y="2285086"/>
            <a:ext cx="224028" cy="2012594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51660" y="2540203"/>
            <a:ext cx="224028" cy="1757477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84832" y="2795321"/>
            <a:ext cx="224028" cy="1502359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8004" y="3050438"/>
            <a:ext cx="224028" cy="1247242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1176" y="3248863"/>
            <a:ext cx="224028" cy="1048817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4348" y="3447288"/>
            <a:ext cx="224028" cy="850392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589020"/>
            <a:ext cx="224028" cy="708660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50692" y="3702406"/>
            <a:ext cx="224028" cy="595274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3864" y="3787445"/>
            <a:ext cx="224028" cy="510235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17036" y="3844138"/>
            <a:ext cx="224028" cy="453542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50208" y="3872484"/>
            <a:ext cx="224028" cy="425196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83380" y="3900830"/>
            <a:ext cx="224028" cy="396850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16552" y="3900830"/>
            <a:ext cx="224028" cy="396850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9724" y="3929177"/>
            <a:ext cx="224028" cy="368503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82896" y="3929177"/>
            <a:ext cx="224028" cy="368503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16068" y="3929177"/>
            <a:ext cx="224028" cy="368503"/>
          </a:xfrm>
          <a:prstGeom prst="rect">
            <a:avLst/>
          </a:prstGeom>
          <a:solidFill>
            <a:srgbClr val="F59E0B">
              <a:alpha val="7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138988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757 ADC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(~3.70 V)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480560" y="41148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120–130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(~0.63 V)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" y="44805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Index →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 rot="16200000">
            <a:off x="45720" y="214884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ADC Value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97880" y="777240"/>
            <a:ext cx="2926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897880" y="777240"/>
            <a:ext cx="109728" cy="123444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41" name="Text 39"/>
          <p:cNvSpPr/>
          <p:nvPr/>
        </p:nvSpPr>
        <p:spPr>
          <a:xfrm>
            <a:off x="6108192" y="868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Decay Confirmed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08192" y="121615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monotonic decay from ADC 757 to baseline — no dead zones or non-linear jumps detected.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897880" y="2148840"/>
            <a:ext cx="2926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97880" y="2148840"/>
            <a:ext cx="10972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6108192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Validated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08192" y="258775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voltage strictly proportional to particle density across the full measurement range.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97880" y="3520440"/>
            <a:ext cx="2926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897880" y="3520440"/>
            <a:ext cx="109728" cy="1234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6108192" y="3611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Established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08192" y="395935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Resting ADC of 120–130 converts to ~0.63 V, consistent with manufacturer's specified VOC range.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VARIATIONS IN DUST DENSITY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6809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Indoor and outdoor environments show opposing trends between morning and afternoon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53312"/>
            <a:ext cx="2651760" cy="43891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37160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84882"/>
            <a:ext cx="548640" cy="30403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45920" y="2224278"/>
            <a:ext cx="548640" cy="56464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8346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Accumulates through day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38144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activity re-suspends settled dust. Restricted ventilation traps particulates in the breathing zone.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353312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353312"/>
            <a:ext cx="265176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137160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11880" y="1963674"/>
            <a:ext cx="548640" cy="82524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2834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26280" y="2424074"/>
            <a:ext cx="548640" cy="36484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28346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3756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Clears through day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338328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438144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inversion layer traps dust near ground. Solar heating generates convective currents that disperse PM upward.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1353312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353312"/>
            <a:ext cx="265176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190488" y="137160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SEMI-OUTDOOR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2311146"/>
            <a:ext cx="548640" cy="47777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834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06640" y="2398014"/>
            <a:ext cx="548640" cy="39090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28346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Highly variable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338328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438144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on immediate airflow patterns, cross-ventilation, wind direction, and adjacent outdoor PM levels.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— University Ground (Early Afternoon)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920240" cy="1005840"/>
          </a:xfrm>
          <a:prstGeom prst="rect">
            <a:avLst/>
          </a:prstGeom>
          <a:solidFill>
            <a:srgbClr val="2563A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955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(N)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749808"/>
            <a:ext cx="1920240" cy="1005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7955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μ (mg/m³)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81144" y="749808"/>
            <a:ext cx="1920240" cy="100584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81144" y="7955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81144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σ (mg/m³)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11696" y="749808"/>
            <a:ext cx="1920240" cy="10058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11696" y="7955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11696" y="13716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920240"/>
            <a:ext cx="411480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1956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2322576"/>
            <a:ext cx="4050792" cy="30175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12848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01568" y="2340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2624328"/>
            <a:ext cx="405079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642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12848" y="2642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0.0383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01568" y="2642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mg/m³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2926080"/>
            <a:ext cx="4050792" cy="30175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944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12848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0.0375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01568" y="2944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mg/m³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3227832"/>
            <a:ext cx="405079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212848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0.0292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01568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mg/m³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3529584"/>
            <a:ext cx="4050792" cy="30175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212848" y="3547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0.0566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01568" y="3547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mg/m³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7472" y="3831336"/>
            <a:ext cx="405079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" y="3849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212848" y="3849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0.0274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01568" y="3849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mg/m³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7472" y="4133088"/>
            <a:ext cx="4050792" cy="30175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" y="4151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212848" y="4151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0.0058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401568" y="4151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mg/m³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7472" y="4434840"/>
            <a:ext cx="4050792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384048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σ²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212848" y="4453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0.00004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401568" y="4453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(mg/m³)²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17720" y="1920240"/>
            <a:ext cx="420624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54880" y="1956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Insights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36592" y="2459736"/>
            <a:ext cx="137160" cy="137160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53" name="Text 51"/>
          <p:cNvSpPr/>
          <p:nvPr/>
        </p:nvSpPr>
        <p:spPr>
          <a:xfrm>
            <a:off x="4956048" y="23957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central tendency: Mean, Median &amp; Mode tightly clustered → confirms stable baseline dust level.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36592" y="303580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5" name="Text 53"/>
          <p:cNvSpPr/>
          <p:nvPr/>
        </p:nvSpPr>
        <p:spPr>
          <a:xfrm>
            <a:off x="4956048" y="2971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variance (σ = 0.0063): Median filtering successfully eliminated electrical noise from raw ADC signal.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36592" y="3611880"/>
            <a:ext cx="137160" cy="1371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7" name="Text 55"/>
          <p:cNvSpPr/>
          <p:nvPr/>
        </p:nvSpPr>
        <p:spPr>
          <a:xfrm>
            <a:off x="4956048" y="35478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IQR (0.0058 mg/m³): 50% of data points fall in a very tight band — sensor is consistently reliable.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36592" y="4187952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4956048" y="412394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skewness (+1.28): Models real physics — a hard lower floor with occasional transient spikes from wind or activity.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137160" cy="128016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68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Environments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8092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natural thermal convection, human mechanical activity acts as a relentless engine for dust resuspension. Stagnant air traps particulates in the breathing zone. Active, engineered ventilation systems are essential for safe indoor air quality in educational spaces.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8503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94560"/>
            <a:ext cx="137160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860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Environments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8092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thermodynamics act as a natural air purifier. The transition from morning inversion layers — which trap dust near the ground — to afternoon convective dispersion demonstrates how temperature gradients dictate local airflow and particulate density.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611880"/>
            <a:ext cx="8503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611880"/>
            <a:ext cx="137160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03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8092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GP2Y1010AU0F sensor proved exceptionally reliable when coupled with digital median filtering. Positive skewness confirms the sensor accurately captured transient dust events against a stable clean-air floor, validating the entire experimental methodology.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Study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128016" cy="128016"/>
          </a:xfrm>
          <a:prstGeom prst="ellipse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560320"/>
            <a:ext cx="128016" cy="128016"/>
          </a:xfrm>
          <a:prstGeom prst="ellipse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200400"/>
            <a:ext cx="128016" cy="128016"/>
          </a:xfrm>
          <a:prstGeom prst="ellipse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2286000"/>
            <a:ext cx="128016" cy="128016"/>
          </a:xfrm>
          <a:prstGeom prst="ellipse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2743200"/>
            <a:ext cx="128016" cy="128016"/>
          </a:xfrm>
          <a:prstGeom prst="ellipse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3840480"/>
            <a:ext cx="128016" cy="128016"/>
          </a:xfrm>
          <a:prstGeom prst="ellipse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017520" y="4114800"/>
            <a:ext cx="128016" cy="128016"/>
          </a:xfrm>
          <a:prstGeom prst="ellipse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Colombo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PH3039 Data Acquisition Lab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45720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457200"/>
            <a:ext cx="109728" cy="749808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530352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low-cost, real-time PM monitoring system using Arduino Nano + SHARP GP2Y1010AU0F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335024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335024"/>
            <a:ext cx="109728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1408176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spaces accumulate PM through the day due to human activity and poor ventilation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21284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12848"/>
            <a:ext cx="109728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286000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environments self-clean in the afternoon via temperature-driven convective dispersion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90672"/>
            <a:ext cx="10972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3163824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(σ = 0.0063, skewness = +1.28) confirms scientific validity of all measurements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968496"/>
            <a:ext cx="109728" cy="749808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404164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framework — eliminates need for expensive commercial PM reference equipment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Dust Density Distribution - Lab Report</dc:title>
  <dc:subject>PptxGenJS Presentation</dc:subject>
  <dc:creator>PptxGenJS</dc:creator>
  <cp:lastModifiedBy>PptxGenJS</cp:lastModifiedBy>
  <cp:revision>1</cp:revision>
  <dcterms:created xsi:type="dcterms:W3CDTF">2026-02-19T15:28:39Z</dcterms:created>
  <dcterms:modified xsi:type="dcterms:W3CDTF">2026-02-19T15:28:39Z</dcterms:modified>
</cp:coreProperties>
</file>